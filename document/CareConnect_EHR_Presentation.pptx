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73775" cy="6858000"/>
          </a:xfrm>
          <a:prstGeom prst="rect">
            <a:avLst/>
          </a:prstGeom>
          <a:solidFill>
            <a:srgbClr val="0F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5120640" cy="347472"/>
          </a:xfrm>
          <a:prstGeom prst="roundRect">
            <a:avLst/>
          </a:prstGeom>
          <a:solidFill>
            <a:srgbClr val="12264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⚕️  CARECONNECT HEALTHCARE IT • ENTERPRISE CLINICAL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CareConnect </a:t>
            </a:r>
            <a:r>
              <a:rPr sz="4400" b="1">
                <a:solidFill>
                  <a:srgbClr val="38BDF8"/>
                </a:solidFill>
              </a:rPr>
              <a:t>EHR</a:t>
            </a:r>
            <a:endParaRPr sz="4400" b="1">
              <a:solidFill>
                <a:srgbClr val="38BDF8"/>
              </a:solidFill>
            </a:endParaRPr>
          </a:p>
          <a:p>
            <a:pPr>
              <a:spcBef>
                <a:spcPts val="400"/>
              </a:spcBef>
              <a:defRPr sz="1500" b="1">
                <a:solidFill>
                  <a:srgbClr val="94A3B8"/>
                </a:solidFill>
              </a:defRPr>
            </a:pPr>
            <a:r>
              <a:t>Next-Gen Clinical Healthcare Management &amp; Telemetry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2E8F0"/>
                </a:solidFill>
              </a:rPr>
              <a:t>⚡ Real-Time CPOE Diagnostics:</a:t>
            </a:r>
            <a:r>
              <a:rPr sz="1100">
                <a:solidFill>
                  <a:srgbClr val="94A3B8"/>
                </a:solidFill>
              </a:rPr>
              <a:t> LOINC-coded lab &amp; imaging requisitions with STAT priority queues.</a:t>
            </a:r>
            <a:endParaRPr sz="1100">
              <a:solidFill>
                <a:srgbClr val="94A3B8"/>
              </a:solidFill>
            </a:endParaRP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E2E8F0"/>
                </a:solidFill>
              </a:rPr>
              <a:t>🛡️ Drug Safety CDSS Engine:</a:t>
            </a:r>
            <a:r>
              <a:rPr sz="1100">
                <a:solidFill>
                  <a:srgbClr val="94A3B8"/>
                </a:solidFill>
              </a:rPr>
              <a:t> Automated drug-drug interaction &amp; allergy contraindication safeguards.</a:t>
            </a:r>
            <a:endParaRPr sz="1100">
              <a:solidFill>
                <a:srgbClr val="94A3B8"/>
              </a:solidFill>
            </a:endParaRP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E2E8F0"/>
                </a:solidFill>
              </a:rPr>
              <a:t>📋 SOAP Clinical Encounters:</a:t>
            </a:r>
            <a:r>
              <a:rPr sz="1100">
                <a:solidFill>
                  <a:srgbClr val="94A3B8"/>
                </a:solidFill>
              </a:rPr>
              <a:t> Standardized medical history &amp; cryptographically locked physician notes.</a:t>
            </a:r>
            <a:endParaRPr sz="1100">
              <a:solidFill>
                <a:srgbClr val="94A3B8"/>
              </a:solidFill>
            </a:endParaRP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E2E8F0"/>
                </a:solidFill>
              </a:rPr>
              <a:t>🏥 Patient Access Portal:</a:t>
            </a:r>
            <a:r>
              <a:rPr sz="1100">
                <a:solidFill>
                  <a:srgbClr val="94A3B8"/>
                </a:solidFill>
              </a:rPr>
              <a:t> Lifetime MRN self-service vitals, medication cards &amp; lab results.</a:t>
            </a:r>
            <a:endParaRPr sz="1100">
              <a:solidFill>
                <a:srgbClr val="94A3B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5303520" cy="1280160"/>
          </a:xfrm>
          <a:prstGeom prst="roundRect">
            <a:avLst/>
          </a:prstGeom>
          <a:solidFill>
            <a:srgbClr val="121E36"/>
          </a:solidFill>
          <a:ln w="1524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PROJECT METADATA &amp; PRESENTATION DETAILS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• Lead Presenter: Priyank | Healthcare Informatics Lead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Stack: Spring Boot 3 • Angular 17 • JWT • Relational H2 Persistent Storage</a:t>
            </a:r>
          </a:p>
        </p:txBody>
      </p:sp>
      <p:pic>
        <p:nvPicPr>
          <p:cNvPr id="10" name="Picture 9" descr="dashboard_mock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914400"/>
            <a:ext cx="5120640" cy="385328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4937760"/>
            <a:ext cx="5120640" cy="50292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9834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EE7B7"/>
                </a:solidFill>
              </a:defRPr>
            </a:pPr>
            <a:r>
              <a:t>🟢 LIVE HOSPITAL TELEMETRY STREAM ACTIVE • WARD CAPACITY: 74% • TAT: 96.8%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Summary: The Healthcare Transformation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t>🚨 Traditional Healthcare Bottlenecks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F172A"/>
                </a:solidFill>
              </a:rPr>
              <a:t>• Fragmented Paper Records:</a:t>
            </a:r>
            <a:r>
              <a:rPr sz="1200">
                <a:solidFill>
                  <a:srgbClr val="64748B"/>
                </a:solidFill>
              </a:rPr>
              <a:t> Illegible physician handwriting causes life-threatening medication administration errors.</a:t>
            </a:r>
            <a:endParaRPr sz="12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F172A"/>
                </a:solidFill>
              </a:rPr>
              <a:t>• Dangerous Drug Interactions:</a:t>
            </a:r>
            <a:r>
              <a:rPr sz="1200">
                <a:solidFill>
                  <a:srgbClr val="64748B"/>
                </a:solidFill>
              </a:rPr>
              <a:t> No automated checks when co-prescribing drugs like Warfarin and Aspirin (bleeding risk).</a:t>
            </a:r>
            <a:endParaRPr sz="12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F172A"/>
                </a:solidFill>
              </a:rPr>
              <a:t>• Diagnostic Requisition Delays:</a:t>
            </a:r>
            <a:r>
              <a:rPr sz="1200">
                <a:solidFill>
                  <a:srgbClr val="64748B"/>
                </a:solidFill>
              </a:rPr>
              <a:t> Lost paper slips for lab/radiology increase Lab Turnaround Time (TAT) and patient length-of-stay.</a:t>
            </a:r>
            <a:endParaRPr sz="12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F172A"/>
                </a:solidFill>
              </a:rPr>
              <a:t>• Lack of Patient Transparency:</a:t>
            </a:r>
            <a:r>
              <a:rPr sz="1200">
                <a:solidFill>
                  <a:srgbClr val="64748B"/>
                </a:solidFill>
              </a:rPr>
              <a:t> Patients cannot review their vital histories, laboratory trends, or consult summaries remotely.</a:t>
            </a:r>
            <a:endParaRPr sz="12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F172A"/>
                </a:solidFill>
              </a:rPr>
              <a:t>• Absence of Audit Governance:</a:t>
            </a:r>
            <a:r>
              <a:rPr sz="1200">
                <a:solidFill>
                  <a:srgbClr val="64748B"/>
                </a:solidFill>
              </a:rPr>
              <a:t> Non-compliance with HIPAA standards for tracking who viewed or altered medical charts.</a:t>
            </a:r>
            <a:endParaRPr sz="1200">
              <a:solidFill>
                <a:srgbClr val="64748B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💡 CareConnect Digital Breakthroughs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F172A"/>
                </a:solidFill>
              </a:rPr>
              <a:t>✓ End-to-End Paperless CPOE:</a:t>
            </a:r>
            <a:r>
              <a:rPr sz="1200">
                <a:solidFill>
                  <a:srgbClr val="64748B"/>
                </a:solidFill>
              </a:rPr>
              <a:t> Instant digital order routing with international LOINC diagnostic coding and STAT prioritization.</a:t>
            </a:r>
            <a:endParaRPr sz="12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F172A"/>
                </a:solidFill>
              </a:rPr>
              <a:t>✓ Automated Drug Safety CDSS:</a:t>
            </a:r>
            <a:r>
              <a:rPr sz="1200">
                <a:solidFill>
                  <a:srgbClr val="64748B"/>
                </a:solidFill>
              </a:rPr>
              <a:t> Real-time clinical decision engine scanning drug-drug interactions and allergies prior to signature.</a:t>
            </a:r>
            <a:endParaRPr sz="12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F172A"/>
                </a:solidFill>
              </a:rPr>
              <a:t>✓ Structured SOAP Encounters:</a:t>
            </a:r>
            <a:r>
              <a:rPr sz="1200">
                <a:solidFill>
                  <a:srgbClr val="64748B"/>
                </a:solidFill>
              </a:rPr>
              <a:t> Standardized clinical histories locked with digital clinician authentication.</a:t>
            </a:r>
            <a:endParaRPr sz="12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F172A"/>
                </a:solidFill>
              </a:rPr>
              <a:t>✓ Self-Service Patient Access:</a:t>
            </a:r>
            <a:r>
              <a:rPr sz="1200">
                <a:solidFill>
                  <a:srgbClr val="64748B"/>
                </a:solidFill>
              </a:rPr>
              <a:t> Direct patient empowerment with real-time vitals flowsheets, lab releases, and active Rx cards.</a:t>
            </a:r>
            <a:endParaRPr sz="12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F172A"/>
                </a:solidFill>
              </a:rPr>
              <a:t>✓ Full HIPAA Audit Readiness:</a:t>
            </a:r>
            <a:r>
              <a:rPr sz="1200">
                <a:solidFill>
                  <a:srgbClr val="64748B"/>
                </a:solidFill>
              </a:rPr>
              <a:t> Immutable audit trail capturing every chart view, order issuance, and clinician login with remote IP.</a:t>
            </a:r>
            <a:endParaRPr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Enterprise Architecture: 4-Tier Scalable Clinical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🖥️ Frontend Layer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Angular 17 Standalone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Component-driven reactive UI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Real-time autocomplete &amp; patient filters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Reactive state management via RxJS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Responsive clinical workstations &amp; tablets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42032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74519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⚙️ Backend Core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Spring Boot 3 (Java 17)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Modular RESTful micro-architecture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Spring Data JPA transactional persistence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Clinical Decision Support (CDSS) rules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Strict DTO isolation preventing data leaks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42032" cy="1097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874519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🔒 Identity &amp; Access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Spring Security 6 &amp; JWT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HMAC-SHA256 encrypted Bearer token auth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4-Tier RBAC: Doctor, Nurse, Admin, Patient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Method-level `@PreAuthorize` guards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HIPAA compliance audit trail logging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42032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1874519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💾 Persistence Engine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File-Backed H2 Database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Persistent disk storage (zero data loss on refresh)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Automated schema synchronization via Hibernate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Pre-seeded mock patient cohorts &amp; clinical rules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Production-ready path to Oracle /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Doctor Control Room: Clinical Queue &amp; Real-Time Telemetry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846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🩺 Real-Time Operational Cockpit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Live Clinical Shift Monitor:</a:t>
            </a:r>
            <a:r>
              <a:rPr sz="1100">
                <a:solidFill>
                  <a:srgbClr val="64748B"/>
                </a:solidFill>
              </a:rPr>
              <a:t> Displays active duty shift (OPD Block B) with pulsing green live status indicator.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Live Ticking Digital Clock:</a:t>
            </a:r>
            <a:r>
              <a:rPr sz="1100">
                <a:solidFill>
                  <a:srgbClr val="64748B"/>
                </a:solidFill>
              </a:rPr>
              <a:t> Monospace real-time clock updating every second via Angular ChangeDetectorRef.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Hospital Bed Occupancy (74%):</a:t>
            </a:r>
            <a:r>
              <a:rPr sz="1100">
                <a:solidFill>
                  <a:srgbClr val="64748B"/>
                </a:solidFill>
              </a:rPr>
              <a:t> Live telemetry tracking available ward and intensive care unit capacities.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Lab Turnaround Time (96.8%):</a:t>
            </a:r>
            <a:r>
              <a:rPr sz="1100">
                <a:solidFill>
                  <a:srgbClr val="64748B"/>
                </a:solidFill>
              </a:rPr>
              <a:t> Performance metric measuring swiftness of diagnostic reporting from labs to doctors.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Drug Safety Guard Score (100%):</a:t>
            </a:r>
            <a:r>
              <a:rPr sz="1100">
                <a:solidFill>
                  <a:srgbClr val="64748B"/>
                </a:solidFill>
              </a:rPr>
              <a:t> Real-time clinical decision engine preventing concurrent contraindications.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Accelerated Action Shortcuts:</a:t>
            </a:r>
            <a:r>
              <a:rPr sz="1100">
                <a:solidFill>
                  <a:srgbClr val="64748B"/>
                </a:solidFill>
              </a:rPr>
              <a:t> One-click jump to Patient Directory, CPOE Labs, E-Prescribe, and SOAP Notes.</a:t>
            </a:r>
            <a:endParaRPr sz="1100">
              <a:solidFill>
                <a:srgbClr val="64748B"/>
              </a:solidFill>
            </a:endParaRPr>
          </a:p>
        </p:txBody>
      </p:sp>
      <p:pic>
        <p:nvPicPr>
          <p:cNvPr id="7" name="Picture 6" descr="dashboard_mock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45920"/>
            <a:ext cx="5486400" cy="41285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5852160"/>
            <a:ext cx="5486400" cy="457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58978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34155"/>
                </a:solidFill>
              </a:defRPr>
            </a:pPr>
            <a:r>
              <a:t>🟢 Active Telemetry: Ward beds (74%), Lab TAT (96.8%), and real-time clock sync in Angular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CPOE: Computerized Provider Order Entry &amp; Diagnostic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poe_mock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480560" cy="46194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645920"/>
            <a:ext cx="5943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8288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🔬 Paperless Diagnostic Lifecycle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</a:rPr>
              <a:t>✓ Standard LOINC Tagging:</a:t>
            </a:r>
            <a:r>
              <a:rPr sz="1100">
                <a:solidFill>
                  <a:srgbClr val="64748B"/>
                </a:solidFill>
              </a:rPr>
              <a:t> Every lab &amp; imaging test uses international LOINC standards (e.g., 57698-3 for Lipid Panel, 36554-4 for Chest X-Ray).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</a:rPr>
              <a:t>✓ Triage Priority Routing:</a:t>
            </a:r>
            <a:r>
              <a:rPr sz="1100">
                <a:solidFill>
                  <a:srgbClr val="64748B"/>
                </a:solidFill>
              </a:rPr>
              <a:t> Support for ROUTINE, URGENT, and emergency STAT queues to accelerate critical lab samples.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</a:rPr>
              <a:t>✓ Clinical Indication Mandate:</a:t>
            </a:r>
            <a:r>
              <a:rPr sz="1100">
                <a:solidFill>
                  <a:srgbClr val="64748B"/>
                </a:solidFill>
              </a:rPr>
              <a:t> Doctors specify diagnostic justifications (e.g. 'high fever and weakness evaluation').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</a:rPr>
              <a:t>✓ Result Findings &amp; Reporting:</a:t>
            </a:r>
            <a:r>
              <a:rPr sz="1100">
                <a:solidFill>
                  <a:srgbClr val="64748B"/>
                </a:solidFill>
              </a:rPr>
              <a:t> Lab techs and radiologists record quantitative results and biological normal ranges.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</a:rPr>
              <a:t>✓ ⚠️ Red Flag (Abnormal) Triaging:</a:t>
            </a:r>
            <a:r>
              <a:rPr sz="1100">
                <a:solidFill>
                  <a:srgbClr val="64748B"/>
                </a:solidFill>
              </a:rPr>
              <a:t> One-click abnormal flag highlights critical results in red on doctor worklists and hospital telemetry.</a:t>
            </a:r>
            <a:endParaRPr sz="11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Clinical Safety: E-Prescribing &amp; Drug-Drug Interaction CDSS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💊 E-Prescription Workflow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Patient Autocomplete &amp; Search with instant suggestion popups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Dosage, Route (Oral, IV, Topical), Frequency, and Duration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Pharmacy SIG Instructions ('Take 1 tablet daily after food')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Prescription Refill tracking &amp; status lifecycle (ACTIVE / DISCONTINUED)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Hospital Formulary Quick-Fill chips for common drugs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🛡️ Drug Interaction Engine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⚠️ Real-Time Background Cross-Check before doctor authorization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⚠️ Severity Classification: HIGH, MODERATE, LOW clinical risk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⚠️ Mechanism Explanation (e.g. CYP2C19 inhibition)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⚠️ Clinical Override Protocol: Doctors must explicitly review &amp; confirm risk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⚠️ High-Risk Pairs Guarded: Warfarin + Aspirin, Lisinopril + Spironolactone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📋 SOAP Clinical Documentation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✓ Subjective (S): Patient history, symptoms, and chief complaint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✓ Objective (O): Physical exam, vitals flowsheet, and lab findings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✓ Assessment (A): Differential diagnosis &amp; ICD-10 codification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✓ Plan (P): Medications, follow-up schedule, and patient counseling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✓ Cryptographic Digital Signatures locking notes upon completion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Patient Empowerment: Self-Service Health Access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🧑 Direct Patient Engagement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Unique Medical Record (MRN):</a:t>
            </a:r>
            <a:r>
              <a:rPr sz="1100">
                <a:solidFill>
                  <a:srgbClr val="64748B"/>
                </a:solidFill>
              </a:rPr>
              <a:t> Automated generation of lifetime identifier (e.g. MRN-7061 for Anurag Dwivedi).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Personal Vitals Flowsheet:</a:t>
            </a:r>
            <a:r>
              <a:rPr sz="1100">
                <a:solidFill>
                  <a:srgbClr val="64748B"/>
                </a:solidFill>
              </a:rPr>
              <a:t> Patients track historical trends of Blood Pressure, Heart Rate, SpO2, and WHO BMI status.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Diagnostic Lab Results Access:</a:t>
            </a:r>
            <a:r>
              <a:rPr sz="1100">
                <a:solidFill>
                  <a:srgbClr val="64748B"/>
                </a:solidFill>
              </a:rPr>
              <a:t> Complete visibility into completed blood panels and radiology impressions.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Pharmacy Medication Cards:</a:t>
            </a:r>
            <a:r>
              <a:rPr sz="1100">
                <a:solidFill>
                  <a:srgbClr val="64748B"/>
                </a:solidFill>
              </a:rPr>
              <a:t> Clear dosage, frequency, and instructions to ensure medication adherence.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Visit Consult Summaries:</a:t>
            </a:r>
            <a:r>
              <a:rPr sz="1100">
                <a:solidFill>
                  <a:srgbClr val="64748B"/>
                </a:solidFill>
              </a:rPr>
              <a:t> Patients can review attending doctor advice from any internet-connected device.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</a:rPr>
              <a:t>• Clinician Preview Switcher:</a:t>
            </a:r>
            <a:r>
              <a:rPr sz="1100">
                <a:solidFill>
                  <a:srgbClr val="64748B"/>
                </a:solidFill>
              </a:rPr>
              <a:t> Doctors and nurses can preview how records appear to any patient.</a:t>
            </a:r>
            <a:endParaRPr sz="1100">
              <a:solidFill>
                <a:srgbClr val="64748B"/>
              </a:solidFill>
            </a:endParaRPr>
          </a:p>
        </p:txBody>
      </p:sp>
      <p:pic>
        <p:nvPicPr>
          <p:cNvPr id="7" name="Picture 6" descr="portal_mock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645920"/>
            <a:ext cx="5303520" cy="284180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4709160"/>
            <a:ext cx="2560320" cy="16002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754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📊 Vitals Telemetry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Real-time tracking for Blood Pressure, Heart Rate, SpO2 &amp; BMI recorded during triage.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4709160"/>
            <a:ext cx="2560320" cy="16002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4754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💊 Active Prescriptions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Instant access to verified doctor consults, medications, dosages &amp; LOINC lab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CARECONNECT ENTERPRISE EHR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Regulatory Governance, Audit Trail &amp; Future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🔒 Security &amp; Regulatory Compliance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172A"/>
                </a:solidFill>
              </a:rPr>
              <a:t>✓ Granular Role Separation (RBAC):</a:t>
            </a:r>
            <a:r>
              <a:rPr sz="1100">
                <a:solidFill>
                  <a:srgbClr val="64748B"/>
                </a:solidFill>
              </a:rPr>
              <a:t> Doctors have prescribing privileges; Nurses manage triage and vitals; Patients have read-only access to their charts.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172A"/>
                </a:solidFill>
              </a:rPr>
              <a:t>✓ Immutable Audit Trail:</a:t>
            </a:r>
            <a:r>
              <a:rPr sz="1100">
                <a:solidFill>
                  <a:srgbClr val="64748B"/>
                </a:solidFill>
              </a:rPr>
              <a:t> Every chart view, order creation, and diagnosis entry records timestamp, user, action, and remote IP address.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172A"/>
                </a:solidFill>
              </a:rPr>
              <a:t>✓ Data Loss Prevention:</a:t>
            </a:r>
            <a:r>
              <a:rPr sz="1100">
                <a:solidFill>
                  <a:srgbClr val="64748B"/>
                </a:solidFill>
              </a:rPr>
              <a:t> Relational file-backed database ensures persistent operational durability during server restarts.</a:t>
            </a:r>
            <a:endParaRPr sz="1100">
              <a:solidFill>
                <a:srgbClr val="64748B"/>
              </a:solidFill>
            </a:endParaRP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172A"/>
                </a:solidFill>
              </a:rPr>
              <a:t>✓ Data Minimization:</a:t>
            </a:r>
            <a:r>
              <a:rPr sz="1100">
                <a:solidFill>
                  <a:srgbClr val="64748B"/>
                </a:solidFill>
              </a:rPr>
              <a:t> Endpoints expose only required DTO schemas to prevent accidental data leaks.</a:t>
            </a:r>
            <a:endParaRPr sz="1100">
              <a:solidFill>
                <a:srgbClr val="64748B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🚀 Future Strategic Roadmap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0B981"/>
                </a:solidFill>
              </a:rPr>
              <a:t>★ HL7 / FHIR Interoperability:</a:t>
            </a:r>
            <a:r>
              <a:rPr sz="1100">
                <a:solidFill>
                  <a:srgbClr val="0F172A"/>
                </a:solidFill>
              </a:rPr>
              <a:t> RESTful FHIR R4 standard export for seamless health data sharing between hospitals.</a:t>
            </a:r>
            <a:endParaRPr sz="1100">
              <a:solidFill>
                <a:srgbClr val="0F172A"/>
              </a:solidFill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0B981"/>
                </a:solidFill>
              </a:rPr>
              <a:t>★ AI-Powered Clinical Scribe:</a:t>
            </a:r>
            <a:r>
              <a:rPr sz="1100">
                <a:solidFill>
                  <a:srgbClr val="0F172A"/>
                </a:solidFill>
              </a:rPr>
              <a:t> Ambient voice-to-text generating automated draft SOAP notes during consultations.</a:t>
            </a:r>
            <a:endParaRPr sz="1100">
              <a:solidFill>
                <a:srgbClr val="0F172A"/>
              </a:solidFill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0B981"/>
                </a:solidFill>
              </a:rPr>
              <a:t>★ Telehealth WebRTC Consultations:</a:t>
            </a:r>
            <a:r>
              <a:rPr sz="1100">
                <a:solidFill>
                  <a:srgbClr val="0F172A"/>
                </a:solidFill>
              </a:rPr>
              <a:t> Integrated encrypted video calling directly inside the patient portal.</a:t>
            </a:r>
            <a:endParaRPr sz="1100">
              <a:solidFill>
                <a:srgbClr val="0F172A"/>
              </a:solidFill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0B981"/>
                </a:solidFill>
              </a:rPr>
              <a:t>★ Predictive Sepsis &amp; ICU Triage:</a:t>
            </a:r>
            <a:r>
              <a:rPr sz="1100">
                <a:solidFill>
                  <a:srgbClr val="0F172A"/>
                </a:solidFill>
              </a:rPr>
              <a:t> Machine learning early warning scores (NEWS2) derived from real-time vitals flowsheets.</a:t>
            </a:r>
            <a:endParaRPr sz="1100">
              <a:solidFill>
                <a:srgbClr val="0F172A"/>
              </a:solidFill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0B981"/>
                </a:solidFill>
              </a:rPr>
              <a:t>★ Smart Pharmacy Dispense Integration:</a:t>
            </a:r>
            <a:r>
              <a:rPr sz="1100">
                <a:solidFill>
                  <a:srgbClr val="0F172A"/>
                </a:solidFill>
              </a:rPr>
              <a:t> Barcode Medication Administration (BCMA) scanning verification at bedside.</a:t>
            </a:r>
            <a:endParaRPr sz="11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hank_you_b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46888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Thank </a:t>
            </a:r>
            <a:r>
              <a:rPr sz="7200" b="1">
                <a:solidFill>
                  <a:srgbClr val="38BDF8"/>
                </a:solidFill>
              </a:rPr>
              <a:t>You.</a:t>
            </a:r>
            <a:endParaRPr sz="7200" b="1">
              <a:solidFill>
                <a:srgbClr val="38BDF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8155</Words>
  <Application>WPS Presentation</Application>
  <PresentationFormat>On-screen Show (4:3)</PresentationFormat>
  <Paragraphs>153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anurag dwivedi</cp:lastModifiedBy>
  <cp:revision>2</cp:revision>
  <dcterms:created xsi:type="dcterms:W3CDTF">2013-01-27T09:14:00Z</dcterms:created>
  <dcterms:modified xsi:type="dcterms:W3CDTF">2026-10-01T06:23:43Z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36E1881574A248FDB3CA191C18EDB756_12</vt:lpwstr>
  </property>
</Properties>
</file>